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914400"/>
            <a:ext cx="384048" cy="4892040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8760" y="114300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Git и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27432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CE6F0"/>
                </a:solidFill>
                <a:latin typeface="Aptos"/>
              </a:defRPr>
            </a:pPr>
            <a:r>
              <a:t>Пошаговый маршрут: от первой папки до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5303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522D"/>
                </a:solidFill>
                <a:latin typeface="Aptos"/>
              </a:defRPr>
            </a:pPr>
            <a:r>
              <a:t>ЗАНЯТИЕ НА 90 МИНУТ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01/27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МАРШРУТ ЗАНЯТИЯ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Сегодня ты соберёшь проект по шагам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Не нужно запоминать всё сразу. Двигайся по схеме и после каждого шага проверяй результат.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3093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1. Подготовить папку и проверить Git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2. Создать локальный репозиторий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3. Подготовить и сохранить изменения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4. Посмотреть историю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5. Создать репозиторий на GitHub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6. Отправить и получить изменения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Финиш: проект на GitHub + минимум 3 понятных коммита.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02/27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ПЕРЕД СТАРТОМ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Что понадобится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Подготовь всё до первой команды — так практика не остановится на середине.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3093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Терминал: Git Bash, PowerShell, Terminal или терминал IDE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Текстовый редактор или IDE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Установленный Git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Аккаунт GitHub и доступ в интернет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--version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config --global user.name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config --global user.email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559552"/>
            <a:ext cx="10607040" cy="502920"/>
          </a:xfrm>
          <a:prstGeom prst="roundRect">
            <a:avLst/>
          </a:prstGeom>
          <a:solidFill>
            <a:srgbClr val="FFF4E9"/>
          </a:solidFill>
          <a:ln w="12700">
            <a:solidFill>
              <a:srgbClr val="FFF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67842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522D"/>
                </a:solidFill>
                <a:latin typeface="Aptos"/>
              </a:defRPr>
            </a:pPr>
            <a:r>
              <a:t>ПОМОЩЬ  •  Если Git не установлен, выполняй локальную часть вместе с преподавателем.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03/27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ГЛАВНАЯ ИДЕЯ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У Git есть четыре места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Команды перемещают изменения по этому маршруту.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pull работает в обратную сторону: GitHub → твой компьютер.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2286000" cy="1828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200" y="2514600"/>
            <a:ext cx="731520" cy="731520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7066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3832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  <a:latin typeface="Aptos"/>
              </a:defRPr>
            </a:pPr>
            <a:r>
              <a:t>Рабочая папка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7764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ты изменяешь файлы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82112" y="3017520"/>
            <a:ext cx="384048" cy="228600"/>
          </a:xfrm>
          <a:prstGeom prst="rightArrow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11879" y="2286000"/>
            <a:ext cx="2286000" cy="1828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0" y="2514600"/>
            <a:ext cx="731520" cy="731520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7066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33832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  <a:latin typeface="Aptos"/>
              </a:defRPr>
            </a:pPr>
            <a:r>
              <a:t>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37764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выбираешь изменения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71031" y="3017520"/>
            <a:ext cx="384048" cy="228600"/>
          </a:xfrm>
          <a:prstGeom prst="rightArrow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286000"/>
            <a:ext cx="2286000" cy="1828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78040" y="2514600"/>
            <a:ext cx="731520" cy="731520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7066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3832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  <a:latin typeface="Aptos"/>
              </a:defRPr>
            </a:pPr>
            <a:r>
              <a:t>Локальная история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7764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создаёшь commit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59952" y="3017520"/>
            <a:ext cx="384048" cy="228600"/>
          </a:xfrm>
          <a:prstGeom prst="rightArrow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2286000"/>
            <a:ext cx="2286000" cy="182880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66959" y="2514600"/>
            <a:ext cx="731520" cy="731520"/>
          </a:xfrm>
          <a:prstGeom prst="ellipse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9" y="27066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1" y="33832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1" y="37764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отправляешь push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04/27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ШАГ 1 ИЗ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Создай папку проекта и перейди в неё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Все дальнейшие команды выполняются внутри папки проекта.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mkdir git-practice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cd git-practice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406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595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СДЕЛАЙ  •  Вместо git-practice можно выбрать своё имя папки.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406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595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8754"/>
                </a:solidFill>
                <a:latin typeface="Aptos"/>
              </a:defRPr>
            </a:pPr>
            <a:r>
              <a:t>ПРОВЕРЬ  •  Проверь путь: ты находишься внутри новой папки.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05/27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ШАГ 2 ИЗ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Создай локальный репозиторий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`init` включает историю Git в текущей папке.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init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B8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98754"/>
                </a:solidFill>
                <a:latin typeface="Aptos"/>
              </a:defRPr>
            </a:pPr>
            <a:r>
              <a:t>ОЖИДАЕМЫЙ РЕЗУЛЬТАТ</a:t>
            </a:r>
            <a:br/>
            <a:r>
              <a:t>Ожидаемый результат: Git сообщает, что репозиторий создан, а рабочее дерево пока чистое.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FFF4E9"/>
          </a:solidFill>
          <a:ln w="12700">
            <a:solidFill>
              <a:srgbClr val="FF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6522D"/>
                </a:solidFill>
                <a:latin typeface="Aptos"/>
              </a:defRPr>
            </a:pPr>
            <a:r>
              <a:t>ЗАПОМНИ</a:t>
            </a:r>
            <a:br/>
            <a:r>
              <a:t>`init` не создаёт коммит и не отправляет проект на GitHub.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06/27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ШАГ 3 ИЗ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Проверь состояние через `status`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`status` — твой навигатор. Запускай его, когда не понимаешь, что происходит.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6537960" cy="393192"/>
          </a:xfrm>
          <a:prstGeom prst="roundRect">
            <a:avLst/>
          </a:prstGeom>
          <a:solidFill>
            <a:srgbClr val="142337"/>
          </a:solidFill>
          <a:ln w="1270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ЧТО ВИДИШЬ В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68880"/>
            <a:ext cx="6537960" cy="5577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6522D"/>
                </a:solidFill>
                <a:latin typeface="Aptos"/>
              </a:defRPr>
            </a:pPr>
            <a:r>
              <a:t>Untracked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5786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43447"/>
                </a:solidFill>
                <a:latin typeface="Aptos"/>
              </a:defRPr>
            </a:pPr>
            <a:r>
              <a:t>Git видит новый файл, но ещё не отслеживает его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36392"/>
            <a:ext cx="653796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6522D"/>
                </a:solidFill>
                <a:latin typeface="Aptos"/>
              </a:defRPr>
            </a:pPr>
            <a:r>
              <a:t>Changes not staged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4612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43447"/>
                </a:solidFill>
                <a:latin typeface="Aptos"/>
              </a:defRPr>
            </a:pPr>
            <a:r>
              <a:t>файл изменён, но не выбран для коммита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03904"/>
            <a:ext cx="6537960" cy="5577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13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6522D"/>
                </a:solidFill>
                <a:latin typeface="Aptos"/>
              </a:defRPr>
            </a:pPr>
            <a:r>
              <a:t>Changes to be committed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13632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43447"/>
                </a:solidFill>
                <a:latin typeface="Aptos"/>
              </a:defRPr>
            </a:pPr>
            <a:r>
              <a:t>изменение уже подготовлено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71416"/>
            <a:ext cx="653796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811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6522D"/>
                </a:solidFill>
                <a:latin typeface="Aptos"/>
              </a:defRPr>
            </a:pPr>
            <a:r>
              <a:t>working tree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81144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43447"/>
                </a:solidFill>
                <a:latin typeface="Aptos"/>
              </a:defRPr>
            </a:pPr>
            <a:r>
              <a:t>новых изменений нет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07/27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ШАГ 4 ИЗ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Добавь первый файл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Создай `README.md` или открой заготовку мини-сайта из практикума.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echo "# Мой проект" &gt; README.md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B8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98754"/>
                </a:solidFill>
                <a:latin typeface="Aptos"/>
              </a:defRPr>
            </a:pPr>
            <a:r>
              <a:t>ОЖИДАЕМЫЙ РЕЗУЛЬТАТ</a:t>
            </a:r>
            <a:br/>
            <a:r>
              <a:t>Ожидаемый результат: `README.md` появляется в разделе `Untracked files`.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DDD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42337"/>
                </a:solidFill>
                <a:latin typeface="Aptos"/>
              </a:defRPr>
            </a:pPr>
            <a:r>
              <a:t>ВОПРОС К СЕБЕ</a:t>
            </a:r>
            <a:br/>
            <a:r>
              <a:t>Почему Git ещё не показывает файл в истории? Потому что коммита пока нет.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08/27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ШАГ 5 ИЗ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Подготовь изменения через `add`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`add` выбирает, что именно попадёт в ближайший снимок.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add README.md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FFF4E9"/>
          </a:solidFill>
          <a:ln w="12700">
            <a:solidFill>
              <a:srgbClr val="FF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6522D"/>
                </a:solidFill>
                <a:latin typeface="Aptos"/>
              </a:defRPr>
            </a:pPr>
            <a:r>
              <a:t>ЗАПОМНИ</a:t>
            </a:r>
            <a:br/>
            <a:r>
              <a:t>`add` не публикует файл и не создаёт коммит.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43200"/>
            <a:ext cx="2926080" cy="1097280"/>
          </a:xfrm>
          <a:prstGeom prst="roundRect">
            <a:avLst/>
          </a:prstGeom>
          <a:solidFill>
            <a:srgbClr val="FFF0E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90779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Aptos"/>
              </a:defRPr>
            </a:pPr>
            <a:r>
              <a:t>До add</a:t>
            </a:r>
            <a:br/>
            <a:r>
              <a:t>Untracked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743200"/>
            <a:ext cx="2926080" cy="109728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290779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8754"/>
                </a:solidFill>
                <a:latin typeface="Aptos"/>
              </a:defRPr>
            </a:pPr>
            <a:r>
              <a:t>После add</a:t>
            </a:r>
            <a:br/>
            <a:r>
              <a:t>Changes to be committed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09/27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ШАГ 6 ИЗ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Создай первый коммит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Коммит фиксирует подготовленные изменения в локальной истории.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commit -m "Добавить README проекта"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B8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98754"/>
                </a:solidFill>
                <a:latin typeface="Aptos"/>
              </a:defRPr>
            </a:pPr>
            <a:r>
              <a:t>ОЖИДАЕМЫЙ РЕЗУЛЬТАТ</a:t>
            </a:r>
            <a:br/>
            <a:r>
              <a:t>Ожидаемый результат: сообщение вроде `1 file changed` и новый идентификатор коммита.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FFF4E9"/>
          </a:solidFill>
          <a:ln w="12700">
            <a:solidFill>
              <a:srgbClr val="FF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6522D"/>
                </a:solidFill>
                <a:latin typeface="Aptos"/>
              </a:defRPr>
            </a:pPr>
            <a:r>
              <a:t>ПРАВИЛО ХОРОШЕГО КОММИТА</a:t>
            </a:r>
            <a:br/>
            <a:r>
              <a:t>Пиши сообщение как действие: «Добавить», «Обновить», «Исправить».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10/27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ШАГ 7 ИЗ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Посмотри историю через `log`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Убедись, что коммит действительно создан и подписан.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log --oneline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B8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98754"/>
                </a:solidFill>
                <a:latin typeface="Aptos"/>
              </a:defRPr>
            </a:pPr>
            <a:r>
              <a:t>ОЖИДАЕМЫЙ РЕЗУЛЬТАТ</a:t>
            </a:r>
            <a:br/>
            <a:r>
              <a:t>Вверху появится короткая строка с ID коммита и его сообщением.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406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595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СЛЕДУЮЩИЙ ШАГ  •  Теперь измени файл и повтори цикл: status → add → commit.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11/27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КОНТРОЛЬНАЯ ТОЧКА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Локальная часть готова, если…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Остановись и проверь себя перед переходом к 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583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`git init` выполнен в папке проекта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`git status` понятен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создан минимум 1 коммит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`git log --oneline` показывает историю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ты можешь объяснить разницу между `add` и `commit`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Если что-то не сходится — снова выполни `git status` и покажи его преподавателю.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12/27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GITHUB •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Зарегистрируйся или войди в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GitHub — это сервис, где будет храниться удалённая копия репозитория.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766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Открой github.com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Нажми Sign up или Sign in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Подтверди email, если GitHub попросит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Не вводи пароль или токен в файлы проекта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59552"/>
            <a:ext cx="10607040" cy="502920"/>
          </a:xfrm>
          <a:prstGeom prst="roundRect">
            <a:avLst/>
          </a:prstGeom>
          <a:solidFill>
            <a:srgbClr val="FFF4E9"/>
          </a:solidFill>
          <a:ln w="12700">
            <a:solidFill>
              <a:srgbClr val="FFF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7842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522D"/>
                </a:solidFill>
                <a:latin typeface="Aptos"/>
              </a:defRPr>
            </a:pPr>
            <a:r>
              <a:t>ПОМОЩЬ  •  Git — программа на компьютере. GitHub — сервис в интернете. Это не одно и то же.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13/27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GITHUB • ЭКРАН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Регистрация: где начать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На стартовой странице GitHub выбери Sign up. Дальше форма ведёт тебя по шагам.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789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07899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093976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093976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093976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45920" y="2052828"/>
            <a:ext cx="56692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080260"/>
            <a:ext cx="5303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github.com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651760"/>
            <a:ext cx="4434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880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2337"/>
                </a:solidFill>
                <a:latin typeface="Aptos"/>
              </a:defRPr>
            </a:pPr>
            <a:r>
              <a:t>Join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3375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Email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538728"/>
            <a:ext cx="352044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6393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you@example.com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2" y="3493008"/>
            <a:ext cx="3639312" cy="438912"/>
          </a:xfrm>
          <a:prstGeom prst="roundRect">
            <a:avLst/>
          </a:prstGeom>
          <a:noFill/>
          <a:ln w="2794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0" y="3374136"/>
            <a:ext cx="329184" cy="329184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447288"/>
            <a:ext cx="3291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096512"/>
            <a:ext cx="3520440" cy="384048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41970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Continue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87952" y="4050791"/>
            <a:ext cx="3639312" cy="475488"/>
          </a:xfrm>
          <a:prstGeom prst="roundRect">
            <a:avLst/>
          </a:prstGeom>
          <a:noFill/>
          <a:ln w="2794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31920" y="3931920"/>
            <a:ext cx="329184" cy="329184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005072"/>
            <a:ext cx="3291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4564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522D"/>
                </a:solidFill>
                <a:latin typeface="Aptos"/>
              </a:defRPr>
            </a:pPr>
            <a:r>
              <a:t>Sign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74903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</a:defRPr>
            </a:pPr>
            <a:r>
              <a:t>Нажми на кнопку Sign up</a:t>
            </a:r>
            <a:br/>
            <a:r>
              <a:t>на главной странице.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" y="2496312"/>
            <a:ext cx="1417320" cy="292608"/>
          </a:xfrm>
          <a:prstGeom prst="roundRect">
            <a:avLst/>
          </a:prstGeom>
          <a:noFill/>
          <a:ln w="2794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" y="2377440"/>
            <a:ext cx="329184" cy="329184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450592"/>
            <a:ext cx="3291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25603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1 — открой Sign up  •  2 — введи email  •  3 — продолжи через браузер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14/27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GITHUB • ЭКРАН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New repository: заполни только главное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Для первого push создаём пустой репозиторий, чтобы история начиналась локально.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789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07899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093976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093976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093976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45920" y="2052828"/>
            <a:ext cx="56692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080260"/>
            <a:ext cx="5303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github.com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33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337"/>
                </a:solidFill>
                <a:latin typeface="Aptos"/>
              </a:defRPr>
            </a:pPr>
            <a:r>
              <a:t>Create a new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906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Repository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319272"/>
            <a:ext cx="406908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4290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3447"/>
                </a:solidFill>
                <a:latin typeface="Consolas"/>
              </a:defRPr>
            </a:pPr>
            <a:r>
              <a:t>git-practice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5568" y="3273552"/>
            <a:ext cx="4206240" cy="438912"/>
          </a:xfrm>
          <a:prstGeom prst="roundRect">
            <a:avLst/>
          </a:prstGeom>
          <a:noFill/>
          <a:ln w="2794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3154680"/>
            <a:ext cx="329184" cy="329184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227832"/>
            <a:ext cx="3291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58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96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3447"/>
                </a:solidFill>
                <a:latin typeface="Aptos"/>
              </a:defRPr>
            </a:pPr>
            <a:r>
              <a:t>◉ Public    ○ Private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15568" y="4005072"/>
            <a:ext cx="2926080" cy="365760"/>
          </a:xfrm>
          <a:prstGeom prst="roundRect">
            <a:avLst/>
          </a:prstGeom>
          <a:noFill/>
          <a:ln w="2794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3886200"/>
            <a:ext cx="329184" cy="329184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959352"/>
            <a:ext cx="3291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697480"/>
            <a:ext cx="3840480" cy="1645920"/>
          </a:xfrm>
          <a:prstGeom prst="roundRect">
            <a:avLst/>
          </a:prstGeom>
          <a:solidFill>
            <a:srgbClr val="FFF4E9"/>
          </a:solidFill>
          <a:ln w="12700">
            <a:solidFill>
              <a:srgbClr val="FF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29260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522D"/>
                </a:solidFill>
                <a:latin typeface="Aptos"/>
              </a:defRPr>
            </a:pPr>
            <a:r>
              <a:t>Оставь пустыми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3649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3447"/>
                </a:solidFill>
                <a:latin typeface="Aptos"/>
              </a:defRPr>
            </a:pPr>
            <a:r>
              <a:t>☐ Add a README file</a:t>
            </a:r>
            <a:br/>
            <a:r>
              <a:t>☐ Add .gitignore</a:t>
            </a:r>
            <a:br/>
            <a:r>
              <a:t>☐ Choose a license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98754"/>
                </a:solidFill>
                <a:latin typeface="Aptos"/>
              </a:defRPr>
            </a:pPr>
            <a:r>
              <a:t>Create repository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788920"/>
            <a:ext cx="3474720" cy="1234440"/>
          </a:xfrm>
          <a:prstGeom prst="roundRect">
            <a:avLst/>
          </a:prstGeom>
          <a:noFill/>
          <a:ln w="2794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56248" y="2670048"/>
            <a:ext cx="329184" cy="329184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291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Имя → видимость → без README/.gitignore/License → Create 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15/27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GITHUB •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Создай пустой репозиторий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Пустой репозиторий нужен, чтобы отправить в него уже созданную локальную историю.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766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Справа сверху нажми `+` → `New repository`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Введи имя, например `git-practice`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Выбери Public или Private по инструкции преподавателя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Не ставь галочки README, .gitignore и License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Нажми `Create repository`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32120"/>
            <a:ext cx="10607040" cy="502920"/>
          </a:xfrm>
          <a:prstGeom prst="roundRect">
            <a:avLst/>
          </a:prstGeom>
          <a:solidFill>
            <a:srgbClr val="FFF0EE"/>
          </a:solidFill>
          <a:ln w="12700"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5099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392B"/>
                </a:solidFill>
                <a:latin typeface="Aptos"/>
              </a:defRPr>
            </a:pPr>
            <a:r>
              <a:t>ВНИМАНИЕ  •  Если GitHub уже создал README, история будет отличаться. Для первого раза проще начать с пустого репозитория.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16/27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GITHUB • ЭКРАН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Quick setup: скопируй HTTPS-URL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После создания GitHub покажет адрес, который связывает локальную папку с удалённым репозиторием.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789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07899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093976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093976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093976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45920" y="2052828"/>
            <a:ext cx="56692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080260"/>
            <a:ext cx="5303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github.com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060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337"/>
                </a:solidFill>
                <a:latin typeface="Aptos"/>
              </a:defRPr>
            </a:pPr>
            <a:r>
              <a:t>Quick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63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522D"/>
                </a:solidFill>
                <a:latin typeface="Aptos"/>
              </a:defRPr>
            </a:pPr>
            <a:r>
              <a:t>HTTPS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632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SSH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926080"/>
            <a:ext cx="1051560" cy="384048"/>
          </a:xfrm>
          <a:prstGeom prst="roundRect">
            <a:avLst/>
          </a:prstGeom>
          <a:noFill/>
          <a:ln w="2794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5527" y="2807208"/>
            <a:ext cx="329184" cy="329184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" y="2880360"/>
            <a:ext cx="3291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474720"/>
            <a:ext cx="64008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36210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3447"/>
                </a:solidFill>
                <a:latin typeface="Consolas"/>
              </a:defRPr>
            </a:pPr>
            <a:r>
              <a:t>https://github.com/USERNAME/git-practice.git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538728"/>
            <a:ext cx="502920" cy="329184"/>
          </a:xfrm>
          <a:prstGeom prst="roundRect">
            <a:avLst/>
          </a:prstGeom>
          <a:solidFill>
            <a:srgbClr val="169C9A"/>
          </a:solidFill>
          <a:ln w="12700">
            <a:solidFill>
              <a:srgbClr val="169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3630168"/>
            <a:ext cx="448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Copy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8992" y="3401568"/>
            <a:ext cx="6446520" cy="603504"/>
          </a:xfrm>
          <a:prstGeom prst="roundRect">
            <a:avLst/>
          </a:prstGeom>
          <a:noFill/>
          <a:ln w="2794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3282696"/>
            <a:ext cx="329184" cy="329184"/>
          </a:xfrm>
          <a:prstGeom prst="ellipse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355848"/>
            <a:ext cx="3291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251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Вставь адрес в терминал вместо URL.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743200"/>
            <a:ext cx="2651760" cy="12801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9718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2337"/>
                </a:solidFill>
                <a:latin typeface="Aptos"/>
              </a:defRPr>
            </a:pPr>
            <a:r>
              <a:t>Дальше в терминале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0156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6522D"/>
                </a:solidFill>
                <a:latin typeface="Consolas"/>
              </a:defRPr>
            </a:pPr>
            <a:r>
              <a:t>git remote add origin URL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Выбери HTTPS, нажми Copy и вставь URL вместо слова URL.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17/27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GITHUB •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Свяжи папку с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Скопируй HTTPS-URL своего нового репозитория и выполни команды в папке проекта.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branch -M main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remote add origin URL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remote -v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406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595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8754"/>
                </a:solidFill>
                <a:latin typeface="Aptos"/>
              </a:defRPr>
            </a:pPr>
            <a:r>
              <a:t>ПРОВЕРЬ  •  В выводе `git remote -v` должен быть адрес твоего GitHub-репозитория.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4922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`main` — имя основной ветки</a:t>
            </a:r>
          </a:p>
          <a:p>
            <a:pPr>
              <a:spcAft>
                <a:spcPts val="12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`origin` — короткое имя удалённого репозитория</a:t>
            </a:r>
          </a:p>
          <a:p>
            <a:pPr>
              <a:spcAft>
                <a:spcPts val="12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`URL` — адрес твоего репозитория на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18/27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GITHUB •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Отправь историю через `push`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Теперь отправим локальные коммиты на GitHub.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push -u origin 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B8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98754"/>
                </a:solidFill>
                <a:latin typeface="Aptos"/>
              </a:defRPr>
            </a:pPr>
            <a:r>
              <a:t>ОЖИДАЕМЫЙ РЕЗУЛЬТАТ</a:t>
            </a:r>
            <a:br/>
            <a:r>
              <a:t>Открой страницу репозитория в браузере и обнови её. Файлы и коммиты должны появиться.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4922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`push` — отправить изменения</a:t>
            </a:r>
          </a:p>
          <a:p>
            <a:pPr>
              <a:spcAft>
                <a:spcPts val="12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`-u` — запомнить связь локальной и удалённой веток</a:t>
            </a:r>
          </a:p>
          <a:p>
            <a:pPr>
              <a:spcAft>
                <a:spcPts val="12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После первого раза обычно достаточно `git push`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19/27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GITHUB •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Проверь результат на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Сравни, что есть локально и что появилось в браузере.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583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видны файлы проекта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отображается ветка `main`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видна история коммитов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последний коммит имеет понятное сообщение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Если файлов нет — не создавай новый репозиторий. Сначала проверь `git remote -v` и повтори `git push`.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20/27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GITHUB •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Получи изменение через `pull`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Aptos"/>
              </a:defRPr>
            </a:pPr>
            <a:r>
              <a:t>Сделай небольшое изменение в README через веб-интерфейс GitHub, затем забери его локально.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pull origin main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54880"/>
            <a:ext cx="6400800" cy="7315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B8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8828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98754"/>
                </a:solidFill>
                <a:latin typeface="Aptos"/>
              </a:defRPr>
            </a:pPr>
            <a:r>
              <a:t>ОЖИДАЕМЫЙ РЕЗУЛЬТАТ</a:t>
            </a:r>
            <a:br/>
            <a:r>
              <a:t>В локальной папке появился новый текст. `pull` получает, `push` отправляет.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743200"/>
            <a:ext cx="3840480" cy="128016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B8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017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9C9A"/>
                </a:solidFill>
                <a:latin typeface="Aptos"/>
              </a:defRPr>
            </a:pPr>
            <a:r>
              <a:t>Изменение на GitHub</a:t>
            </a:r>
            <a:br/>
            <a:r>
              <a:t>        ↓ pull</a:t>
            </a:r>
            <a:br/>
            <a:r>
              <a:t>Файл на твоём компьютере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21/27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ПОЛНЫЙ ЦИКЛ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Повторяй этот алгоритм после каждого изменения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status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# изменить файлы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status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add .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commit -m "Описать изменение"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push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Не делай `push`, если перед этим нет нового локального коммита.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4008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1. Проверить состояние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2. Изменить файлы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3. Подготовить нужное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4. Зафиксировать локально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5. Отправить на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22/27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ПРАКТИКУМ • 20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Мини-сайт визитка: делай по чек-листу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766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1. Скопируй папку практикума и выполни `git init`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2. Сделай первый коммит исходной страницы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3. Измени имя и описание, сделай второй коммит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4. Создай пустой репозиторий GitHub и выполни первый `push`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5. Измени README на GitHub и выполни `pull`</a:t>
            </a:r>
          </a:p>
          <a:p>
            <a:pPr>
              <a:spcAft>
                <a:spcPts val="12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6. Добавь блок навыков, третий коммит и `push`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4406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5595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8754"/>
                </a:solidFill>
                <a:latin typeface="Aptos"/>
              </a:defRPr>
            </a:pPr>
            <a:r>
              <a:t>Финиш: минимум 3 коммита + файлы на GitHub + чистый `git status`.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23/27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ЕСЛИ ПОЯВИЛАСЬ ОШИБКА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Не угадывай — пройди диагностику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3291840" cy="14173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0370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522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12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157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Какие файлы изменены и подготовлены?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057400"/>
            <a:ext cx="3291840" cy="14173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20370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522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212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  <a:latin typeface="Consolas"/>
              </a:defRPr>
            </a:pPr>
            <a:r>
              <a:t>git log --oneline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7157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Есть ли локальный коммит?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57400"/>
            <a:ext cx="3291840" cy="14173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220370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522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212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  <a:latin typeface="Consolas"/>
              </a:defRPr>
            </a:pPr>
            <a:r>
              <a:t>git remote -v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7157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Правильно ли указан GitHub-адрес?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Consolas"/>
              </a:defRPr>
            </a:pPr>
            <a:r>
              <a:t>origin already 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88620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3447"/>
                </a:solidFill>
                <a:latin typeface="Aptos"/>
              </a:defRPr>
            </a:pPr>
            <a:r>
              <a:t>Связь уже добавлена. Посмотри `git remote -v`.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159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Consolas"/>
              </a:defRPr>
            </a:pPr>
            <a:r>
              <a:t>src refspec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31596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3447"/>
                </a:solidFill>
                <a:latin typeface="Aptos"/>
              </a:defRPr>
            </a:pPr>
            <a:r>
              <a:t>Сначала создай хотя бы один коммит.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457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Consolas"/>
              </a:defRPr>
            </a:pPr>
            <a:r>
              <a:t>rejected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745736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3447"/>
                </a:solidFill>
                <a:latin typeface="Aptos"/>
              </a:defRPr>
            </a:pPr>
            <a:r>
              <a:t>На GitHub есть новые изменения: сначала `git pull`.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24/27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Перед публикацией проверь содержимое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583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нет паролей и токенов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нет файлов `.env` и приватных ключей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нет персональных данных, которые нельзя публиковать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`.gitignore` исключает секреты и временные файлы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3977639" cy="41148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status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# проверь файлы</a:t>
            </a:r>
          </a:p>
          <a:p>
            <a:pPr>
              <a:spcAft>
                <a:spcPts val="700"/>
              </a:spcAft>
              <a:defRPr sz="1400">
                <a:solidFill>
                  <a:srgbClr val="142337"/>
                </a:solidFill>
                <a:latin typeface="Consolas"/>
              </a:defRPr>
            </a:pPr>
            <a:r>
              <a:t>git add 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32120"/>
            <a:ext cx="10607040" cy="502920"/>
          </a:xfrm>
          <a:prstGeom prst="roundRect">
            <a:avLst/>
          </a:prstGeom>
          <a:solidFill>
            <a:srgbClr val="FFF0EE"/>
          </a:solidFill>
          <a:ln w="12700"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65099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392B"/>
                </a:solidFill>
                <a:latin typeface="Aptos"/>
              </a:defRPr>
            </a:pPr>
            <a:r>
              <a:t>ВНИМАНИЕ  •  Если секрет уже попал в коммит, простого удаления файла недостаточно: сразу обратись к преподавателю.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25/27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КОНТРОЛЬНАЯ ТОЧКА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Покажи преподавателю три доказательства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583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`git status` → рабочее дерево чистое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`git log --oneline` → минимум 3 коммита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GitHub → файлы и история видны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ты можешь объяснить `commit` и `push`</a:t>
            </a:r>
          </a:p>
          <a:p>
            <a:pPr>
              <a:spcAft>
                <a:spcPts val="12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☐ ты знаешь, что делает `pull`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Готово — значит ты можешь повторить цикл в следующем проекте.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26/27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1920240" cy="347472"/>
          </a:xfrm>
          <a:prstGeom prst="roundRect">
            <a:avLst/>
          </a:prstGeom>
          <a:solidFill>
            <a:srgbClr val="E6522D"/>
          </a:solidFill>
          <a:ln w="12700">
            <a:solidFill>
              <a:srgbClr val="E6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4805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EXIT TICKET • 3 МИНУТЫ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Ответь без терминала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80467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43447"/>
                </a:solidFill>
                <a:latin typeface="Aptos"/>
              </a:defRPr>
            </a:pPr>
            <a:r>
              <a:t>1. Чем Git отличается от GitHub?</a:t>
            </a:r>
          </a:p>
          <a:p>
            <a:pPr>
              <a:spcAft>
                <a:spcPts val="1200"/>
              </a:spcAft>
              <a:defRPr sz="1800">
                <a:solidFill>
                  <a:srgbClr val="243447"/>
                </a:solidFill>
                <a:latin typeface="Aptos"/>
              </a:defRPr>
            </a:pPr>
            <a:r>
              <a:t>2. Что делает `git add`?</a:t>
            </a:r>
          </a:p>
          <a:p>
            <a:pPr>
              <a:spcAft>
                <a:spcPts val="1200"/>
              </a:spcAft>
              <a:defRPr sz="1800">
                <a:solidFill>
                  <a:srgbClr val="243447"/>
                </a:solidFill>
                <a:latin typeface="Aptos"/>
              </a:defRPr>
            </a:pPr>
            <a:r>
              <a:t>3. Какая команда первой при непонятной ситуации?</a:t>
            </a:r>
          </a:p>
          <a:p>
            <a:pPr>
              <a:spcAft>
                <a:spcPts val="1200"/>
              </a:spcAft>
              <a:defRPr sz="1800">
                <a:solidFill>
                  <a:srgbClr val="243447"/>
                </a:solidFill>
                <a:latin typeface="Aptos"/>
              </a:defRPr>
            </a:pPr>
            <a:r>
              <a:t>4. Чем `commit` отличается от `push`?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669280"/>
            <a:ext cx="10607040" cy="502920"/>
          </a:xfrm>
          <a:prstGeom prst="roundRect">
            <a:avLst/>
          </a:prstGeom>
          <a:solidFill>
            <a:srgbClr val="E8F4F3"/>
          </a:solidFill>
          <a:ln w="12700">
            <a:solidFill>
              <a:srgbClr val="E8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78815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9C9A"/>
                </a:solidFill>
                <a:latin typeface="Aptos"/>
              </a:defRPr>
            </a:pPr>
            <a:r>
              <a:t>Главная формула: status → add → commit → push ↔ pull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GIT И GITHUB  •  ШАГ ЗА ШАГОМ                                      27/27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